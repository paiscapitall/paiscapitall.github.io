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C3B082-AC92-455D-9C81-6AC628A51FC3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221F61CC-E38C-486F-8DF9-A4A0805ED99B}">
      <dgm:prSet phldrT="[Text]"/>
      <dgm:spPr/>
      <dgm:t>
        <a:bodyPr/>
        <a:lstStyle/>
        <a:p>
          <a:r>
            <a:rPr lang="en-GB" dirty="0"/>
            <a:t>Role-centred / Lay theories</a:t>
          </a:r>
          <a:endParaRPr lang="en-US" dirty="0"/>
        </a:p>
      </dgm:t>
    </dgm:pt>
    <dgm:pt modelId="{B3A32B0B-A3EE-46A3-AA12-C980BAA4F00C}" type="parTrans" cxnId="{1177B1C9-17AD-4E1B-AE00-A151C3BCAE33}">
      <dgm:prSet/>
      <dgm:spPr/>
      <dgm:t>
        <a:bodyPr/>
        <a:lstStyle/>
        <a:p>
          <a:endParaRPr lang="en-US"/>
        </a:p>
      </dgm:t>
    </dgm:pt>
    <dgm:pt modelId="{CA55D319-9C3A-412F-B737-D6A02CFAF404}" type="sibTrans" cxnId="{1177B1C9-17AD-4E1B-AE00-A151C3BCAE33}">
      <dgm:prSet/>
      <dgm:spPr/>
      <dgm:t>
        <a:bodyPr/>
        <a:lstStyle/>
        <a:p>
          <a:endParaRPr lang="en-US"/>
        </a:p>
      </dgm:t>
    </dgm:pt>
    <dgm:pt modelId="{69E4F63E-0FFC-4D0D-B90C-8F55D322E4FB}">
      <dgm:prSet phldrT="[Text]"/>
      <dgm:spPr/>
      <dgm:t>
        <a:bodyPr/>
        <a:lstStyle/>
        <a:p>
          <a:r>
            <a:rPr lang="en-GB" dirty="0"/>
            <a:t>Public-centred approach</a:t>
          </a:r>
          <a:endParaRPr lang="en-US" dirty="0"/>
        </a:p>
      </dgm:t>
    </dgm:pt>
    <dgm:pt modelId="{200A7014-E0C3-44C5-B0BD-74CCA04CA1BD}" type="parTrans" cxnId="{5FCBDDCE-FFAE-4B93-BE23-9E79B36D5421}">
      <dgm:prSet/>
      <dgm:spPr/>
      <dgm:t>
        <a:bodyPr/>
        <a:lstStyle/>
        <a:p>
          <a:endParaRPr lang="en-US"/>
        </a:p>
      </dgm:t>
    </dgm:pt>
    <dgm:pt modelId="{5C2D36A9-1AC0-428A-9986-A0F2ED3C981A}" type="sibTrans" cxnId="{5FCBDDCE-FFAE-4B93-BE23-9E79B36D5421}">
      <dgm:prSet/>
      <dgm:spPr/>
      <dgm:t>
        <a:bodyPr/>
        <a:lstStyle/>
        <a:p>
          <a:endParaRPr lang="en-US"/>
        </a:p>
      </dgm:t>
    </dgm:pt>
    <dgm:pt modelId="{705AF032-213D-4617-A8A9-83487F0DE082}">
      <dgm:prSet phldrT="[Text]"/>
      <dgm:spPr/>
      <dgm:t>
        <a:bodyPr/>
        <a:lstStyle/>
        <a:p>
          <a:r>
            <a:rPr lang="en-GB" dirty="0"/>
            <a:t>Organizational roles in society</a:t>
          </a:r>
          <a:endParaRPr lang="en-US" dirty="0"/>
        </a:p>
      </dgm:t>
    </dgm:pt>
    <dgm:pt modelId="{E05AF091-BE60-4495-AD5A-2CFB7FCA45D8}" type="parTrans" cxnId="{63F92C09-7726-4858-9AE0-FDFEF5E90EFF}">
      <dgm:prSet/>
      <dgm:spPr/>
      <dgm:t>
        <a:bodyPr/>
        <a:lstStyle/>
        <a:p>
          <a:endParaRPr lang="en-US"/>
        </a:p>
      </dgm:t>
    </dgm:pt>
    <dgm:pt modelId="{695D5C9F-1A3A-43D0-8904-CACC5E4FB51B}" type="sibTrans" cxnId="{63F92C09-7726-4858-9AE0-FDFEF5E90EFF}">
      <dgm:prSet/>
      <dgm:spPr/>
      <dgm:t>
        <a:bodyPr/>
        <a:lstStyle/>
        <a:p>
          <a:endParaRPr lang="en-US"/>
        </a:p>
      </dgm:t>
    </dgm:pt>
    <dgm:pt modelId="{44292B3E-BB31-44E1-983E-B70F65894777}">
      <dgm:prSet phldrT="[Text]"/>
      <dgm:spPr/>
      <dgm:t>
        <a:bodyPr/>
        <a:lstStyle/>
        <a:p>
          <a:r>
            <a:rPr lang="en-GB" dirty="0"/>
            <a:t>Organization-centred approach</a:t>
          </a:r>
          <a:endParaRPr lang="en-US" dirty="0"/>
        </a:p>
      </dgm:t>
    </dgm:pt>
    <dgm:pt modelId="{E2628495-586C-4D62-82F8-E909E849EA87}" type="parTrans" cxnId="{BBA87B74-E190-4BBF-B2B2-38BBBBA774D7}">
      <dgm:prSet/>
      <dgm:spPr/>
      <dgm:t>
        <a:bodyPr/>
        <a:lstStyle/>
        <a:p>
          <a:endParaRPr lang="en-US"/>
        </a:p>
      </dgm:t>
    </dgm:pt>
    <dgm:pt modelId="{F65DBF76-7660-4DAD-9213-7B5D2B416F2D}" type="sibTrans" cxnId="{BBA87B74-E190-4BBF-B2B2-38BBBBA774D7}">
      <dgm:prSet/>
      <dgm:spPr/>
      <dgm:t>
        <a:bodyPr/>
        <a:lstStyle/>
        <a:p>
          <a:endParaRPr lang="en-US"/>
        </a:p>
      </dgm:t>
    </dgm:pt>
    <dgm:pt modelId="{081E5280-2F23-424E-AF21-379BAF08D6C1}">
      <dgm:prSet phldrT="[Text]"/>
      <dgm:spPr/>
      <dgm:t>
        <a:bodyPr/>
        <a:lstStyle/>
        <a:p>
          <a:r>
            <a:rPr lang="en-GB" dirty="0"/>
            <a:t>Message / Channel – centred theories</a:t>
          </a:r>
          <a:endParaRPr lang="en-US" dirty="0"/>
        </a:p>
      </dgm:t>
    </dgm:pt>
    <dgm:pt modelId="{53BEEB23-B30D-4EB8-BE33-A338AF37FB55}" type="parTrans" cxnId="{D00CC95D-73F8-429B-AEE2-EE4459E0AE38}">
      <dgm:prSet/>
      <dgm:spPr/>
      <dgm:t>
        <a:bodyPr/>
        <a:lstStyle/>
        <a:p>
          <a:endParaRPr lang="en-US"/>
        </a:p>
      </dgm:t>
    </dgm:pt>
    <dgm:pt modelId="{D6EAA6FF-ED86-4CD5-8885-C069057AFD68}" type="sibTrans" cxnId="{D00CC95D-73F8-429B-AEE2-EE4459E0AE38}">
      <dgm:prSet/>
      <dgm:spPr/>
      <dgm:t>
        <a:bodyPr/>
        <a:lstStyle/>
        <a:p>
          <a:endParaRPr lang="en-US"/>
        </a:p>
      </dgm:t>
    </dgm:pt>
    <dgm:pt modelId="{676B8312-6D9F-4BCA-8E3E-4359E3D040EE}" type="pres">
      <dgm:prSet presAssocID="{66C3B082-AC92-455D-9C81-6AC628A51FC3}" presName="CompostProcess" presStyleCnt="0">
        <dgm:presLayoutVars>
          <dgm:dir/>
          <dgm:resizeHandles val="exact"/>
        </dgm:presLayoutVars>
      </dgm:prSet>
      <dgm:spPr/>
    </dgm:pt>
    <dgm:pt modelId="{353DA27C-B156-4F2B-AF48-2F63557A2BCA}" type="pres">
      <dgm:prSet presAssocID="{66C3B082-AC92-455D-9C81-6AC628A51FC3}" presName="arrow" presStyleLbl="bgShp" presStyleIdx="0" presStyleCnt="1" custScaleX="117647" custLinFactNeighborX="13676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89CFA5-04B9-4DA2-BF95-8E08E90205E4}" type="pres">
      <dgm:prSet presAssocID="{66C3B082-AC92-455D-9C81-6AC628A51FC3}" presName="linearProcess" presStyleCnt="0"/>
      <dgm:spPr/>
    </dgm:pt>
    <dgm:pt modelId="{A8734FEC-0A5F-4D7C-9400-3EB93829E509}" type="pres">
      <dgm:prSet presAssocID="{221F61CC-E38C-486F-8DF9-A4A0805ED99B}" presName="textNode" presStyleLbl="node1" presStyleIdx="0" presStyleCnt="5">
        <dgm:presLayoutVars>
          <dgm:bulletEnabled val="1"/>
        </dgm:presLayoutVars>
      </dgm:prSet>
      <dgm:spPr/>
    </dgm:pt>
    <dgm:pt modelId="{2885ACB7-991F-4688-B694-699E6259C788}" type="pres">
      <dgm:prSet presAssocID="{CA55D319-9C3A-412F-B737-D6A02CFAF404}" presName="sibTrans" presStyleCnt="0"/>
      <dgm:spPr/>
    </dgm:pt>
    <dgm:pt modelId="{AD4944AD-7919-452C-90C5-809A1EB50214}" type="pres">
      <dgm:prSet presAssocID="{081E5280-2F23-424E-AF21-379BAF08D6C1}" presName="textNode" presStyleLbl="node1" presStyleIdx="1" presStyleCnt="5">
        <dgm:presLayoutVars>
          <dgm:bulletEnabled val="1"/>
        </dgm:presLayoutVars>
      </dgm:prSet>
      <dgm:spPr/>
    </dgm:pt>
    <dgm:pt modelId="{92077933-EC74-4FBE-8D9A-5EDA16C2EC52}" type="pres">
      <dgm:prSet presAssocID="{D6EAA6FF-ED86-4CD5-8885-C069057AFD68}" presName="sibTrans" presStyleCnt="0"/>
      <dgm:spPr/>
    </dgm:pt>
    <dgm:pt modelId="{06CAC44B-4199-4A1D-B29D-DDB1C86B44F6}" type="pres">
      <dgm:prSet presAssocID="{44292B3E-BB31-44E1-983E-B70F65894777}" presName="textNode" presStyleLbl="node1" presStyleIdx="2" presStyleCnt="5">
        <dgm:presLayoutVars>
          <dgm:bulletEnabled val="1"/>
        </dgm:presLayoutVars>
      </dgm:prSet>
      <dgm:spPr/>
    </dgm:pt>
    <dgm:pt modelId="{3DF84456-1D30-4618-B98A-77D3443AD999}" type="pres">
      <dgm:prSet presAssocID="{F65DBF76-7660-4DAD-9213-7B5D2B416F2D}" presName="sibTrans" presStyleCnt="0"/>
      <dgm:spPr/>
    </dgm:pt>
    <dgm:pt modelId="{A1D9D4B3-C81A-4908-8BB3-D3BD689ED2F5}" type="pres">
      <dgm:prSet presAssocID="{69E4F63E-0FFC-4D0D-B90C-8F55D322E4FB}" presName="textNode" presStyleLbl="node1" presStyleIdx="3" presStyleCnt="5">
        <dgm:presLayoutVars>
          <dgm:bulletEnabled val="1"/>
        </dgm:presLayoutVars>
      </dgm:prSet>
      <dgm:spPr/>
    </dgm:pt>
    <dgm:pt modelId="{4D4DB97B-2877-4DC7-B5FB-C12D9836207D}" type="pres">
      <dgm:prSet presAssocID="{5C2D36A9-1AC0-428A-9986-A0F2ED3C981A}" presName="sibTrans" presStyleCnt="0"/>
      <dgm:spPr/>
    </dgm:pt>
    <dgm:pt modelId="{E2FBE0C2-A3CE-4258-8D37-1352A8D01F76}" type="pres">
      <dgm:prSet presAssocID="{705AF032-213D-4617-A8A9-83487F0DE082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63F92C09-7726-4858-9AE0-FDFEF5E90EFF}" srcId="{66C3B082-AC92-455D-9C81-6AC628A51FC3}" destId="{705AF032-213D-4617-A8A9-83487F0DE082}" srcOrd="4" destOrd="0" parTransId="{E05AF091-BE60-4495-AD5A-2CFB7FCA45D8}" sibTransId="{695D5C9F-1A3A-43D0-8904-CACC5E4FB51B}"/>
    <dgm:cxn modelId="{D00CC95D-73F8-429B-AEE2-EE4459E0AE38}" srcId="{66C3B082-AC92-455D-9C81-6AC628A51FC3}" destId="{081E5280-2F23-424E-AF21-379BAF08D6C1}" srcOrd="1" destOrd="0" parTransId="{53BEEB23-B30D-4EB8-BE33-A338AF37FB55}" sibTransId="{D6EAA6FF-ED86-4CD5-8885-C069057AFD68}"/>
    <dgm:cxn modelId="{D6C7955E-68E1-4AEB-96FA-81C0320668E3}" type="presOf" srcId="{69E4F63E-0FFC-4D0D-B90C-8F55D322E4FB}" destId="{A1D9D4B3-C81A-4908-8BB3-D3BD689ED2F5}" srcOrd="0" destOrd="0" presId="urn:microsoft.com/office/officeart/2005/8/layout/hProcess9"/>
    <dgm:cxn modelId="{820B3871-F2D3-4705-8F67-805745491ED9}" type="presOf" srcId="{081E5280-2F23-424E-AF21-379BAF08D6C1}" destId="{AD4944AD-7919-452C-90C5-809A1EB50214}" srcOrd="0" destOrd="0" presId="urn:microsoft.com/office/officeart/2005/8/layout/hProcess9"/>
    <dgm:cxn modelId="{BBA87B74-E190-4BBF-B2B2-38BBBBA774D7}" srcId="{66C3B082-AC92-455D-9C81-6AC628A51FC3}" destId="{44292B3E-BB31-44E1-983E-B70F65894777}" srcOrd="2" destOrd="0" parTransId="{E2628495-586C-4D62-82F8-E909E849EA87}" sibTransId="{F65DBF76-7660-4DAD-9213-7B5D2B416F2D}"/>
    <dgm:cxn modelId="{D5A024A5-74E6-41A6-91AF-6057D62A12C9}" type="presOf" srcId="{221F61CC-E38C-486F-8DF9-A4A0805ED99B}" destId="{A8734FEC-0A5F-4D7C-9400-3EB93829E509}" srcOrd="0" destOrd="0" presId="urn:microsoft.com/office/officeart/2005/8/layout/hProcess9"/>
    <dgm:cxn modelId="{D189F5A7-AD23-4B1F-A250-C1D75138BDF3}" type="presOf" srcId="{44292B3E-BB31-44E1-983E-B70F65894777}" destId="{06CAC44B-4199-4A1D-B29D-DDB1C86B44F6}" srcOrd="0" destOrd="0" presId="urn:microsoft.com/office/officeart/2005/8/layout/hProcess9"/>
    <dgm:cxn modelId="{1FEDABB8-C811-4144-8105-8FE159A2F170}" type="presOf" srcId="{705AF032-213D-4617-A8A9-83487F0DE082}" destId="{E2FBE0C2-A3CE-4258-8D37-1352A8D01F76}" srcOrd="0" destOrd="0" presId="urn:microsoft.com/office/officeart/2005/8/layout/hProcess9"/>
    <dgm:cxn modelId="{1177B1C9-17AD-4E1B-AE00-A151C3BCAE33}" srcId="{66C3B082-AC92-455D-9C81-6AC628A51FC3}" destId="{221F61CC-E38C-486F-8DF9-A4A0805ED99B}" srcOrd="0" destOrd="0" parTransId="{B3A32B0B-A3EE-46A3-AA12-C980BAA4F00C}" sibTransId="{CA55D319-9C3A-412F-B737-D6A02CFAF404}"/>
    <dgm:cxn modelId="{5FCBDDCE-FFAE-4B93-BE23-9E79B36D5421}" srcId="{66C3B082-AC92-455D-9C81-6AC628A51FC3}" destId="{69E4F63E-0FFC-4D0D-B90C-8F55D322E4FB}" srcOrd="3" destOrd="0" parTransId="{200A7014-E0C3-44C5-B0BD-74CCA04CA1BD}" sibTransId="{5C2D36A9-1AC0-428A-9986-A0F2ED3C981A}"/>
    <dgm:cxn modelId="{D79861EE-EB01-496C-8528-867E47E9D6D1}" type="presOf" srcId="{66C3B082-AC92-455D-9C81-6AC628A51FC3}" destId="{676B8312-6D9F-4BCA-8E3E-4359E3D040EE}" srcOrd="0" destOrd="0" presId="urn:microsoft.com/office/officeart/2005/8/layout/hProcess9"/>
    <dgm:cxn modelId="{39D8683A-C169-4DE9-A871-B9BC96370604}" type="presParOf" srcId="{676B8312-6D9F-4BCA-8E3E-4359E3D040EE}" destId="{353DA27C-B156-4F2B-AF48-2F63557A2BCA}" srcOrd="0" destOrd="0" presId="urn:microsoft.com/office/officeart/2005/8/layout/hProcess9"/>
    <dgm:cxn modelId="{56B17EA7-0A06-49AB-87EF-B1BFF9895B28}" type="presParOf" srcId="{676B8312-6D9F-4BCA-8E3E-4359E3D040EE}" destId="{3C89CFA5-04B9-4DA2-BF95-8E08E90205E4}" srcOrd="1" destOrd="0" presId="urn:microsoft.com/office/officeart/2005/8/layout/hProcess9"/>
    <dgm:cxn modelId="{9F8A75D7-63F8-40A1-94F3-AFEB608F9B28}" type="presParOf" srcId="{3C89CFA5-04B9-4DA2-BF95-8E08E90205E4}" destId="{A8734FEC-0A5F-4D7C-9400-3EB93829E509}" srcOrd="0" destOrd="0" presId="urn:microsoft.com/office/officeart/2005/8/layout/hProcess9"/>
    <dgm:cxn modelId="{DFAEC08A-A983-4E98-A44D-81948941B1F2}" type="presParOf" srcId="{3C89CFA5-04B9-4DA2-BF95-8E08E90205E4}" destId="{2885ACB7-991F-4688-B694-699E6259C788}" srcOrd="1" destOrd="0" presId="urn:microsoft.com/office/officeart/2005/8/layout/hProcess9"/>
    <dgm:cxn modelId="{1E3CE981-4DAF-40D3-939D-B45618E8ED77}" type="presParOf" srcId="{3C89CFA5-04B9-4DA2-BF95-8E08E90205E4}" destId="{AD4944AD-7919-452C-90C5-809A1EB50214}" srcOrd="2" destOrd="0" presId="urn:microsoft.com/office/officeart/2005/8/layout/hProcess9"/>
    <dgm:cxn modelId="{ACC01EED-E41D-44A0-94CE-B6C50EFADFB7}" type="presParOf" srcId="{3C89CFA5-04B9-4DA2-BF95-8E08E90205E4}" destId="{92077933-EC74-4FBE-8D9A-5EDA16C2EC52}" srcOrd="3" destOrd="0" presId="urn:microsoft.com/office/officeart/2005/8/layout/hProcess9"/>
    <dgm:cxn modelId="{C8736E76-9DFE-417D-9BA8-90286BBA9B89}" type="presParOf" srcId="{3C89CFA5-04B9-4DA2-BF95-8E08E90205E4}" destId="{06CAC44B-4199-4A1D-B29D-DDB1C86B44F6}" srcOrd="4" destOrd="0" presId="urn:microsoft.com/office/officeart/2005/8/layout/hProcess9"/>
    <dgm:cxn modelId="{2112F7C7-356C-4A5E-A336-61B23FA8DA47}" type="presParOf" srcId="{3C89CFA5-04B9-4DA2-BF95-8E08E90205E4}" destId="{3DF84456-1D30-4618-B98A-77D3443AD999}" srcOrd="5" destOrd="0" presId="urn:microsoft.com/office/officeart/2005/8/layout/hProcess9"/>
    <dgm:cxn modelId="{9A024714-4CD7-4204-A83F-BC122ED33593}" type="presParOf" srcId="{3C89CFA5-04B9-4DA2-BF95-8E08E90205E4}" destId="{A1D9D4B3-C81A-4908-8BB3-D3BD689ED2F5}" srcOrd="6" destOrd="0" presId="urn:microsoft.com/office/officeart/2005/8/layout/hProcess9"/>
    <dgm:cxn modelId="{E2CF85E9-DAB8-4EF8-8BD0-20A6FDDBA956}" type="presParOf" srcId="{3C89CFA5-04B9-4DA2-BF95-8E08E90205E4}" destId="{4D4DB97B-2877-4DC7-B5FB-C12D9836207D}" srcOrd="7" destOrd="0" presId="urn:microsoft.com/office/officeart/2005/8/layout/hProcess9"/>
    <dgm:cxn modelId="{76C7295D-9DEA-4BD3-BDA6-55E85D9A126F}" type="presParOf" srcId="{3C89CFA5-04B9-4DA2-BF95-8E08E90205E4}" destId="{E2FBE0C2-A3CE-4258-8D37-1352A8D01F76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DA27C-B156-4F2B-AF48-2F63557A2BCA}">
      <dsp:nvSpPr>
        <dsp:cNvPr id="0" name=""/>
        <dsp:cNvSpPr/>
      </dsp:nvSpPr>
      <dsp:spPr>
        <a:xfrm>
          <a:off x="5" y="0"/>
          <a:ext cx="11267434" cy="526457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34FEC-0A5F-4D7C-9400-3EB93829E509}">
      <dsp:nvSpPr>
        <dsp:cNvPr id="0" name=""/>
        <dsp:cNvSpPr/>
      </dsp:nvSpPr>
      <dsp:spPr>
        <a:xfrm>
          <a:off x="4951" y="1579371"/>
          <a:ext cx="2164910" cy="21058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Role-centred / Lay theories</a:t>
          </a:r>
          <a:endParaRPr lang="en-US" sz="2300" kern="1200" dirty="0"/>
        </a:p>
      </dsp:txBody>
      <dsp:txXfrm>
        <a:off x="107749" y="1682169"/>
        <a:ext cx="1959314" cy="1900233"/>
      </dsp:txXfrm>
    </dsp:sp>
    <dsp:sp modelId="{AD4944AD-7919-452C-90C5-809A1EB50214}">
      <dsp:nvSpPr>
        <dsp:cNvPr id="0" name=""/>
        <dsp:cNvSpPr/>
      </dsp:nvSpPr>
      <dsp:spPr>
        <a:xfrm>
          <a:off x="2278108" y="1579371"/>
          <a:ext cx="2164910" cy="210582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Message / Channel – centred theories</a:t>
          </a:r>
          <a:endParaRPr lang="en-US" sz="2300" kern="1200" dirty="0"/>
        </a:p>
      </dsp:txBody>
      <dsp:txXfrm>
        <a:off x="2380906" y="1682169"/>
        <a:ext cx="1959314" cy="1900233"/>
      </dsp:txXfrm>
    </dsp:sp>
    <dsp:sp modelId="{06CAC44B-4199-4A1D-B29D-DDB1C86B44F6}">
      <dsp:nvSpPr>
        <dsp:cNvPr id="0" name=""/>
        <dsp:cNvSpPr/>
      </dsp:nvSpPr>
      <dsp:spPr>
        <a:xfrm>
          <a:off x="4551264" y="1579371"/>
          <a:ext cx="2164910" cy="210582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Organization-centred approach</a:t>
          </a:r>
          <a:endParaRPr lang="en-US" sz="2300" kern="1200" dirty="0"/>
        </a:p>
      </dsp:txBody>
      <dsp:txXfrm>
        <a:off x="4654062" y="1682169"/>
        <a:ext cx="1959314" cy="1900233"/>
      </dsp:txXfrm>
    </dsp:sp>
    <dsp:sp modelId="{A1D9D4B3-C81A-4908-8BB3-D3BD689ED2F5}">
      <dsp:nvSpPr>
        <dsp:cNvPr id="0" name=""/>
        <dsp:cNvSpPr/>
      </dsp:nvSpPr>
      <dsp:spPr>
        <a:xfrm>
          <a:off x="6824421" y="1579371"/>
          <a:ext cx="2164910" cy="210582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Public-centred approach</a:t>
          </a:r>
          <a:endParaRPr lang="en-US" sz="2300" kern="1200" dirty="0"/>
        </a:p>
      </dsp:txBody>
      <dsp:txXfrm>
        <a:off x="6927219" y="1682169"/>
        <a:ext cx="1959314" cy="1900233"/>
      </dsp:txXfrm>
    </dsp:sp>
    <dsp:sp modelId="{E2FBE0C2-A3CE-4258-8D37-1352A8D01F76}">
      <dsp:nvSpPr>
        <dsp:cNvPr id="0" name=""/>
        <dsp:cNvSpPr/>
      </dsp:nvSpPr>
      <dsp:spPr>
        <a:xfrm>
          <a:off x="9097577" y="1579371"/>
          <a:ext cx="2164910" cy="210582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Organizational roles in society</a:t>
          </a:r>
          <a:endParaRPr lang="en-US" sz="2300" kern="1200" dirty="0"/>
        </a:p>
      </dsp:txBody>
      <dsp:txXfrm>
        <a:off x="9200375" y="1682169"/>
        <a:ext cx="1959314" cy="1900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BED2-6E10-4C3C-BEA9-893347945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621B2-C388-47A3-89C8-CFC69F943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256DC-A858-4DAC-9C14-AD0A9D775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93DB-DF56-4A53-9FC6-A1CD240B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4F9BA-1594-439B-907F-96B47B84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3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A6DD-DDAD-45B5-A2A1-CC088EEB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5250-3634-4AD3-B470-9EF96A95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A7E6F-0FDA-42C1-9F7B-1C4AB6BB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D833B-CBD8-478B-B484-92A6BC2D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39019-C0E6-4AF9-9C03-EC59D67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3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7209-7F04-42ED-AEDC-432338DF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8256B-54EC-4AB0-BE83-C49A675F5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5C955-0624-4BA1-9738-3919BD1B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20F07-F9B6-44CE-B776-469839EE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F221-336C-40F4-8BB8-5383D563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9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43A9-556F-4CC3-9E72-F41D8785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5A77F-422D-4D78-9160-C43D4B258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A4EA1-5987-49CE-AB0D-EC2F6C4A4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BEAAF-7D61-4928-A65D-0E1906B0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1605B-7992-40FB-AF56-1C34F931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D71FC-BD48-4026-8940-6B985792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693A-6BA8-4274-8130-6385D305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75DE8-2EC7-4D55-835A-41D1370FE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9225D-07AF-42A9-BDDF-089BB1B0B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6D47E-FD6B-4D3A-BC5D-12F0120B9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41383-D362-45DC-83A8-746EBC42A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EEC6D-AD57-4ED0-944D-3CF0431F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B3DF7-95F3-4274-9DA1-51E379A2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B42DC-06DE-4916-BD35-0D004CCB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CA6A-5EF8-4D03-BC3A-21BF0C03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12841-E47F-434E-9FA8-C22E7E2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7C839F-850A-4902-B8FC-9A25B810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457D1-409F-4C0D-A322-1A670828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9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10E9C-CB84-43F5-82C4-21979797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C611E-39F2-406A-8024-C4D72871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AD662-60B2-4852-B3D5-7D76A0B9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A8E9-03A4-46C8-A4EE-70680528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C5F71-BBDB-41C4-A3AF-7F29FCAFC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91932-17F4-4E13-A9D6-62089966A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0D884-591B-478D-A547-7BA01E41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AE42F-FF43-4667-A69F-C5C2489B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DFAFF-8132-46F0-8CC8-6B831ECA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1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6CA6-3D02-42F3-8EEF-D22D3F70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20217-701F-46DF-82C7-4DD9D21DC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1115C-CF10-4A69-B067-1EDAA4A0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C794D-4AB3-433F-B4F3-68377349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B468-E4D4-4FC7-86D3-AFEB9382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EEE3D-10FF-41CC-BC0C-1110957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7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A540-AE6A-4D04-97BB-A2CE0106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AEC31-1757-42D0-AB8D-CCDA2A358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3570-4741-436D-A7A6-FABE509E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006D-4BA5-4A3A-9503-37A1ED13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6C536-34E5-485C-A2B3-C25905FF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2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5C08B-66BF-48F9-9F04-F93FC9F6E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C87FA-B34F-456D-8055-85A5A91FD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E7768-E665-4D1C-8FEE-4BD69E64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31427-3A7A-459C-B03D-D34903B3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75436-4687-47F6-8C50-EFF62225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E8400-96EE-46A0-852D-9216A36F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6C22-9212-420D-9218-77D0763CB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1C94-2825-4F73-9AAA-FAC823068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4F83C-AB96-4ED6-A8C5-EE332CB214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2686-082F-47FB-B577-C9A0E9B79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658D7-5BBA-4A69-BAAF-13AD9A6E6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FE962-C6A8-43AA-8F6C-C2A494357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2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torspin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07/relationships/hdphoto" Target="../media/hdphoto1.wdp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hyperlink" Target="https://www.maxpixel.net/Brown-Background-Texture-Orange-Old-Tree-Boards-3515592" TargetMode="External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xpixel.net/Brown-Background-Texture-Orange-Old-Tree-Boards-351559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hyperlink" Target="https://www.maxpixel.net/Brown-Background-Texture-Orange-Old-Tree-Boards-35155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bird&#10;&#10;Description automatically generated">
            <a:extLst>
              <a:ext uri="{FF2B5EF4-FFF2-40B4-BE49-F238E27FC236}">
                <a16:creationId xmlns:a16="http://schemas.microsoft.com/office/drawing/2014/main" id="{59738E0F-DD61-4B18-91BC-9AC28CCED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991" r="50310" b="205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09AE3-5176-4555-9743-2AADA9A2A266}"/>
              </a:ext>
            </a:extLst>
          </p:cNvPr>
          <p:cNvSpPr txBox="1"/>
          <p:nvPr/>
        </p:nvSpPr>
        <p:spPr>
          <a:xfrm>
            <a:off x="477980" y="1122363"/>
            <a:ext cx="5618019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dirty="0">
                <a:latin typeface="+mj-lt"/>
                <a:ea typeface="+mj-ea"/>
                <a:cs typeface="+mj-cs"/>
              </a:rPr>
              <a:t>AK21103 PRINCIPLES OF PUBLIC RELATIONS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dirty="0">
                <a:latin typeface="+mj-lt"/>
                <a:ea typeface="+mj-ea"/>
                <a:cs typeface="+mj-cs"/>
              </a:rPr>
              <a:t>LECTURE 2: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UNDERSTANDING THEORIES IN PUBLIC RELATIONS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80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20" y="1017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5FAC3-7643-4576-9BF1-A8B9AEBD5EBA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Ways of Understanding Theories in Public Relations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1649C-5003-48A4-B4D5-2876B1392B8F}"/>
              </a:ext>
            </a:extLst>
          </p:cNvPr>
          <p:cNvSpPr/>
          <p:nvPr/>
        </p:nvSpPr>
        <p:spPr>
          <a:xfrm>
            <a:off x="462116" y="2455605"/>
            <a:ext cx="3490452" cy="1946787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To looks at any available communication theories and link them to public relations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C2833-62C4-457A-BF1B-7979937FD796}"/>
              </a:ext>
            </a:extLst>
          </p:cNvPr>
          <p:cNvSpPr/>
          <p:nvPr/>
        </p:nvSpPr>
        <p:spPr>
          <a:xfrm>
            <a:off x="4466303" y="2455604"/>
            <a:ext cx="3490452" cy="1946787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Divide the discussion of literature based on paradigm – L’ </a:t>
            </a:r>
            <a:r>
              <a:rPr lang="en-GB" sz="2400" dirty="0" err="1"/>
              <a:t>Etang</a:t>
            </a:r>
            <a:r>
              <a:rPr lang="en-GB" sz="2400" dirty="0"/>
              <a:t> (2012)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345187-5E88-48BA-8902-35705A53B01D}"/>
              </a:ext>
            </a:extLst>
          </p:cNvPr>
          <p:cNvSpPr/>
          <p:nvPr/>
        </p:nvSpPr>
        <p:spPr>
          <a:xfrm>
            <a:off x="8470490" y="2455605"/>
            <a:ext cx="3490452" cy="1946787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Divide the theories based on the role (a continuum) from the individual practitioner role up to the organizational responsibilities in society - </a:t>
            </a:r>
            <a:r>
              <a:rPr lang="en-GB" sz="2000" dirty="0" err="1"/>
              <a:t>Botan</a:t>
            </a:r>
            <a:r>
              <a:rPr lang="en-GB" sz="2000" dirty="0"/>
              <a:t> &amp; Trowbridge (2015)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148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Theories of Public Relations in Continuum</a:t>
            </a:r>
          </a:p>
          <a:p>
            <a:pPr algn="ctr"/>
            <a:r>
              <a:rPr lang="en-GB" sz="2400" dirty="0"/>
              <a:t>(</a:t>
            </a:r>
            <a:r>
              <a:rPr lang="en-GB" sz="2400" dirty="0" err="1"/>
              <a:t>Botan</a:t>
            </a:r>
            <a:r>
              <a:rPr lang="en-GB" sz="2400" dirty="0"/>
              <a:t> &amp; Trowbridge, 2015)</a:t>
            </a:r>
            <a:endParaRPr lang="en-US" sz="24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790E35D-5694-42DF-9F35-F1E56BEF1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763565"/>
              </p:ext>
            </p:extLst>
          </p:nvPr>
        </p:nvGraphicFramePr>
        <p:xfrm>
          <a:off x="568960" y="1475139"/>
          <a:ext cx="11267440" cy="5264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7226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95250" y="476250"/>
            <a:ext cx="5489474" cy="880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1. Role-centred theories / Practitioners' centric theories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347673" y="1695448"/>
            <a:ext cx="2819400" cy="30099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pPr algn="ctr"/>
            <a:r>
              <a:rPr lang="en-GB" dirty="0">
                <a:solidFill>
                  <a:srgbClr val="C00000"/>
                </a:solidFill>
              </a:rPr>
              <a:t>Journalist in Residence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Early practitioner former journalist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Concern on getting the message to the public through media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Contact &amp; journalistic skills are essential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3300423" y="1695448"/>
            <a:ext cx="2819400" cy="30099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Hired guns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Offering communication services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Neglecting ethical values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Manipulating / controlling the media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97F48-978F-4B46-A66B-34935883A512}"/>
              </a:ext>
            </a:extLst>
          </p:cNvPr>
          <p:cNvSpPr/>
          <p:nvPr/>
        </p:nvSpPr>
        <p:spPr>
          <a:xfrm>
            <a:off x="6253173" y="1695447"/>
            <a:ext cx="2819400" cy="3009902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they only knew what we know</a:t>
            </a:r>
          </a:p>
          <a:p>
            <a:pPr algn="ctr"/>
            <a:endParaRPr lang="en-GB" dirty="0"/>
          </a:p>
          <a:p>
            <a:r>
              <a:rPr lang="en-GB" dirty="0"/>
              <a:t>Management knows better</a:t>
            </a:r>
          </a:p>
          <a:p>
            <a:endParaRPr lang="en-GB" dirty="0"/>
          </a:p>
          <a:p>
            <a:r>
              <a:rPr lang="en-GB" dirty="0"/>
              <a:t>PR has to get the story out effectively</a:t>
            </a:r>
          </a:p>
          <a:p>
            <a:endParaRPr lang="en-GB" dirty="0"/>
          </a:p>
          <a:p>
            <a:r>
              <a:rPr lang="en-GB" dirty="0"/>
              <a:t>Everyone will follow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20D0A-1E60-442D-87D2-7DF060EEB7CF}"/>
              </a:ext>
            </a:extLst>
          </p:cNvPr>
          <p:cNvSpPr/>
          <p:nvPr/>
        </p:nvSpPr>
        <p:spPr>
          <a:xfrm>
            <a:off x="9182100" y="1695449"/>
            <a:ext cx="2819400" cy="3009900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Court of public opinion</a:t>
            </a:r>
          </a:p>
          <a:p>
            <a:pPr algn="ctr"/>
            <a:endParaRPr lang="en-GB" dirty="0"/>
          </a:p>
          <a:p>
            <a:r>
              <a:rPr lang="en-GB" dirty="0"/>
              <a:t>PR plays a devil advocate role</a:t>
            </a:r>
          </a:p>
          <a:p>
            <a:endParaRPr lang="en-GB" dirty="0"/>
          </a:p>
          <a:p>
            <a:r>
              <a:rPr lang="en-GB" dirty="0"/>
              <a:t>Access and control of resources – one sided [ big companies / Govt]</a:t>
            </a:r>
          </a:p>
          <a:p>
            <a:endParaRPr lang="en-GB" dirty="0"/>
          </a:p>
          <a:p>
            <a:r>
              <a:rPr lang="en-GB" dirty="0"/>
              <a:t>Silver bullet theory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1004898" y="5610225"/>
            <a:ext cx="10229850" cy="7715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TECHNICIAN ROLES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74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2. Message/Channel-centred theories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531033" y="2539782"/>
            <a:ext cx="2819400" cy="30099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Press Agentry and Media Relations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PA- Getting the messages across to the public, often at the expense of ethical value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MR- similar to PA, emphasis on symmetrical relationship with the media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4607713" y="2529247"/>
            <a:ext cx="2819400" cy="30099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Framing Theory</a:t>
            </a:r>
          </a:p>
          <a:p>
            <a:r>
              <a:rPr lang="en-GB" dirty="0">
                <a:solidFill>
                  <a:schemeClr val="tx1"/>
                </a:solidFill>
              </a:rPr>
              <a:t>How media frame the story by highlighting or withholding information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PR construct, process information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Generate pre-packaged information / Information subsidies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97F48-978F-4B46-A66B-34935883A512}"/>
              </a:ext>
            </a:extLst>
          </p:cNvPr>
          <p:cNvSpPr/>
          <p:nvPr/>
        </p:nvSpPr>
        <p:spPr>
          <a:xfrm>
            <a:off x="8660649" y="2539782"/>
            <a:ext cx="2819400" cy="3009902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Agenda Setting Theory</a:t>
            </a:r>
          </a:p>
          <a:p>
            <a:pPr algn="ctr"/>
            <a:endParaRPr lang="en-GB" dirty="0"/>
          </a:p>
          <a:p>
            <a:r>
              <a:rPr lang="en-GB" dirty="0"/>
              <a:t>Complimenting the framing theory. The media agenda.</a:t>
            </a:r>
          </a:p>
          <a:p>
            <a:endParaRPr lang="en-GB" dirty="0"/>
          </a:p>
          <a:p>
            <a:r>
              <a:rPr lang="en-GB" dirty="0"/>
              <a:t>PR determine the media agenda through relationship with the media (pre-packaged information)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921533" y="6181029"/>
            <a:ext cx="10191760" cy="5673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TECHNICIAN ROLES  + STRATEGIC FUNCTION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483BE1-ECEA-4526-8CED-601336D4278D}"/>
              </a:ext>
            </a:extLst>
          </p:cNvPr>
          <p:cNvSpPr/>
          <p:nvPr/>
        </p:nvSpPr>
        <p:spPr>
          <a:xfrm>
            <a:off x="1219200" y="1600200"/>
            <a:ext cx="9894093" cy="567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Focuses on how PR messages are constructed, and channel are used effectively to disseminate information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15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2. Message/Channel-centred theories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2424141" y="2584954"/>
            <a:ext cx="2819400" cy="30099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Rhetoric Theory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usage of language to persuade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Creation of narratives – packaging of agenda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Politicians use of the word “RAKYAT”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7667682" y="2539782"/>
            <a:ext cx="2819400" cy="34038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Persuasion Theory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Attempt to shape / change perception, feelings, thinking, behaviour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Social psychology &amp; communications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Community relations, fund raising, crisis communication, lobbying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921533" y="6181029"/>
            <a:ext cx="10191760" cy="5673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TECHNICIAN ROLES  + STRATEGIC FUNCTION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483BE1-ECEA-4526-8CED-601336D4278D}"/>
              </a:ext>
            </a:extLst>
          </p:cNvPr>
          <p:cNvSpPr/>
          <p:nvPr/>
        </p:nvSpPr>
        <p:spPr>
          <a:xfrm>
            <a:off x="1219200" y="1600200"/>
            <a:ext cx="9894093" cy="567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Focuses on how PR messages are constructed, and channel are used effectively to disseminate information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6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85725" y="232215"/>
            <a:ext cx="5489474" cy="880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3. Organization-centred approach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314346" y="2261727"/>
            <a:ext cx="2819400" cy="30099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pPr algn="ctr"/>
            <a:r>
              <a:rPr lang="en-GB" dirty="0">
                <a:solidFill>
                  <a:srgbClr val="C00000"/>
                </a:solidFill>
              </a:rPr>
              <a:t>Issues Management (</a:t>
            </a:r>
            <a:r>
              <a:rPr lang="en-GB" dirty="0" err="1">
                <a:solidFill>
                  <a:srgbClr val="C00000"/>
                </a:solidFill>
              </a:rPr>
              <a:t>Botan</a:t>
            </a:r>
            <a:r>
              <a:rPr lang="en-GB" dirty="0">
                <a:solidFill>
                  <a:srgbClr val="C00000"/>
                </a:solidFill>
              </a:rPr>
              <a:t>, 2006)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Organization are open to criticism / issues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Issues must be managed wisely to minimise future damaged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Environmental scanning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3324246" y="2261727"/>
            <a:ext cx="2819400" cy="30099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  <a:p>
            <a:pPr algn="ctr"/>
            <a:r>
              <a:rPr lang="en-GB" dirty="0">
                <a:solidFill>
                  <a:srgbClr val="C00000"/>
                </a:solidFill>
              </a:rPr>
              <a:t>Crisis Management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Situational Crisis Communication Theory (Coombs, 2006)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Strategies, framework of categorizing crisis, crisis response strategies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Useful for consultant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97F48-978F-4B46-A66B-34935883A512}"/>
              </a:ext>
            </a:extLst>
          </p:cNvPr>
          <p:cNvSpPr/>
          <p:nvPr/>
        </p:nvSpPr>
        <p:spPr>
          <a:xfrm>
            <a:off x="6238856" y="2261727"/>
            <a:ext cx="2819400" cy="30099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Symmetrical theory (</a:t>
            </a:r>
            <a:r>
              <a:rPr lang="en-GB" dirty="0" err="1">
                <a:solidFill>
                  <a:schemeClr val="tx1"/>
                </a:solidFill>
              </a:rPr>
              <a:t>Grunig</a:t>
            </a:r>
            <a:r>
              <a:rPr lang="en-GB" dirty="0">
                <a:solidFill>
                  <a:schemeClr val="tx1"/>
                </a:solidFill>
              </a:rPr>
              <a:t> &amp; Hunt, 1984)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Asymmetrical – evidence-based PR programme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Symmetrical – long term relationship building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20D0A-1E60-442D-87D2-7DF060EEB7CF}"/>
              </a:ext>
            </a:extLst>
          </p:cNvPr>
          <p:cNvSpPr/>
          <p:nvPr/>
        </p:nvSpPr>
        <p:spPr>
          <a:xfrm>
            <a:off x="9215428" y="2261727"/>
            <a:ext cx="2819400" cy="3009900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Excellence theory (</a:t>
            </a:r>
            <a:r>
              <a:rPr lang="en-GB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Grunig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1992)</a:t>
            </a:r>
          </a:p>
          <a:p>
            <a:pPr algn="ctr"/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 helps organizational by building quality and long-term relationship with strategic public</a:t>
            </a:r>
          </a:p>
          <a:p>
            <a:endParaRPr lang="en-GB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Stakeholder management</a:t>
            </a:r>
          </a:p>
          <a:p>
            <a:pPr algn="ctr"/>
            <a:endParaRPr lang="en-GB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1004898" y="5610225"/>
            <a:ext cx="10229850" cy="7715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STRATEGIC MANAGEMENT – ATTEMPT TO LINK PR WITH MANAGEMENT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4130DA-DA86-4172-959A-67AB3ADCFF30}"/>
              </a:ext>
            </a:extLst>
          </p:cNvPr>
          <p:cNvSpPr/>
          <p:nvPr/>
        </p:nvSpPr>
        <p:spPr>
          <a:xfrm>
            <a:off x="1196599" y="1451413"/>
            <a:ext cx="9894093" cy="5673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Focuses on the wishes and needs of the organization. Functional – concerned with PR function as instrument to accomplish organizational goals / Return of Investment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624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4. Public-centred theories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531033" y="2539782"/>
            <a:ext cx="2819400" cy="30099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CO-ORIENTATION (TAYLOR &amp; KENT, 2006)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How groups see each other and what they believe the other group think about them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4607713" y="2529246"/>
            <a:ext cx="2819400" cy="32714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00000"/>
                </a:solidFill>
              </a:rPr>
              <a:t>DIALOGIC</a:t>
            </a:r>
          </a:p>
          <a:p>
            <a:r>
              <a:rPr lang="en-GB" b="1" dirty="0">
                <a:solidFill>
                  <a:srgbClr val="C00000"/>
                </a:solidFill>
              </a:rPr>
              <a:t>THEORY OF COMMUNICATIVE ACTION (JURGEN HABERMASS)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Ideal speech situation, whereby all stakeholders participate equally in dialogue which resolved in best argument.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Ideal PR practice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97F48-978F-4B46-A66B-34935883A512}"/>
              </a:ext>
            </a:extLst>
          </p:cNvPr>
          <p:cNvSpPr/>
          <p:nvPr/>
        </p:nvSpPr>
        <p:spPr>
          <a:xfrm>
            <a:off x="8660649" y="2410909"/>
            <a:ext cx="2819400" cy="350411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SITUATIONAL THEORY OF PUBLIC (GRUNIG &amp; HUNT, 1984; 1997)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FOUR different type of public that react to situation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Non-public, latent, aware &amp; active</a:t>
            </a:r>
          </a:p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921533" y="6181029"/>
            <a:ext cx="10191760" cy="5673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Ideal public relations practice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483BE1-ECEA-4526-8CED-601336D4278D}"/>
              </a:ext>
            </a:extLst>
          </p:cNvPr>
          <p:cNvSpPr/>
          <p:nvPr/>
        </p:nvSpPr>
        <p:spPr>
          <a:xfrm>
            <a:off x="1219200" y="1600200"/>
            <a:ext cx="9894093" cy="567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publics makes use of the efforts of practitioners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71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4. Public-centred theories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2424141" y="2584954"/>
            <a:ext cx="2819400" cy="3009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RELATIONAL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Relationship management theory (</a:t>
            </a:r>
            <a:r>
              <a:rPr lang="en-US" dirty="0" err="1">
                <a:solidFill>
                  <a:srgbClr val="C00000"/>
                </a:solidFill>
              </a:rPr>
              <a:t>Leddingham</a:t>
            </a:r>
            <a:r>
              <a:rPr lang="en-US" dirty="0">
                <a:solidFill>
                  <a:srgbClr val="C00000"/>
                </a:solidFill>
              </a:rPr>
              <a:t>, 2006)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Organization-Public relationship is dynamic and need to be sustained.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Community engagement activities. 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72C73-5873-4B76-A74F-E20DC93ECE9C}"/>
              </a:ext>
            </a:extLst>
          </p:cNvPr>
          <p:cNvSpPr/>
          <p:nvPr/>
        </p:nvSpPr>
        <p:spPr>
          <a:xfrm>
            <a:off x="7667682" y="2539782"/>
            <a:ext cx="2819400" cy="34038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00000"/>
                </a:solidFill>
              </a:rPr>
              <a:t>CO-CREATIONAL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Public as partners in meaning-making process. 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Communication need to negotiate changes</a:t>
            </a:r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Concept of ownerships / community owned project</a:t>
            </a:r>
          </a:p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921533" y="6181029"/>
            <a:ext cx="10191760" cy="5673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Ideal public relations practice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3967EC-2AFD-4E76-ABB7-1B3FACBDA24B}"/>
              </a:ext>
            </a:extLst>
          </p:cNvPr>
          <p:cNvSpPr/>
          <p:nvPr/>
        </p:nvSpPr>
        <p:spPr>
          <a:xfrm>
            <a:off x="1219200" y="1600200"/>
            <a:ext cx="9894093" cy="567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How publics makes use of the efforts of practitioners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76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E1A50-B3D3-4F06-B3D1-B3484EA30810}"/>
              </a:ext>
            </a:extLst>
          </p:cNvPr>
          <p:cNvSpPr/>
          <p:nvPr/>
        </p:nvSpPr>
        <p:spPr>
          <a:xfrm>
            <a:off x="78659" y="393290"/>
            <a:ext cx="5506065" cy="9635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5. Organizational roles in society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5D919-5E2E-4E9A-83A5-0532B53E920F}"/>
              </a:ext>
            </a:extLst>
          </p:cNvPr>
          <p:cNvSpPr/>
          <p:nvPr/>
        </p:nvSpPr>
        <p:spPr>
          <a:xfrm>
            <a:off x="3020629" y="2464811"/>
            <a:ext cx="6291234" cy="3009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COMMUNITY BUILDING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PR roles in a whole ecosystem should change from being the </a:t>
            </a:r>
            <a:r>
              <a:rPr lang="en-US" dirty="0" err="1">
                <a:solidFill>
                  <a:srgbClr val="C00000"/>
                </a:solidFill>
              </a:rPr>
              <a:t>centre</a:t>
            </a:r>
            <a:r>
              <a:rPr lang="en-US" dirty="0">
                <a:solidFill>
                  <a:srgbClr val="C00000"/>
                </a:solidFill>
              </a:rPr>
              <a:t> of the system into becoming the essence of the community.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Investment of long-term CSR </a:t>
            </a:r>
            <a:r>
              <a:rPr lang="en-US" dirty="0" err="1">
                <a:solidFill>
                  <a:srgbClr val="C00000"/>
                </a:solidFill>
              </a:rPr>
              <a:t>programme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0F18E-70CB-4DD5-A2A1-6EDDC9351D61}"/>
              </a:ext>
            </a:extLst>
          </p:cNvPr>
          <p:cNvSpPr/>
          <p:nvPr/>
        </p:nvSpPr>
        <p:spPr>
          <a:xfrm>
            <a:off x="921533" y="6181029"/>
            <a:ext cx="10191760" cy="5673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Ideal public relations practice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3967EC-2AFD-4E76-ABB7-1B3FACBDA24B}"/>
              </a:ext>
            </a:extLst>
          </p:cNvPr>
          <p:cNvSpPr/>
          <p:nvPr/>
        </p:nvSpPr>
        <p:spPr>
          <a:xfrm>
            <a:off x="1219200" y="1600200"/>
            <a:ext cx="9894093" cy="5673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Looking into the interactions between organizations and society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338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urniture, sitting, wooden, cat&#10;&#10;Description automatically generated">
            <a:extLst>
              <a:ext uri="{FF2B5EF4-FFF2-40B4-BE49-F238E27FC236}">
                <a16:creationId xmlns:a16="http://schemas.microsoft.com/office/drawing/2014/main" id="{A1F81636-BCB1-4DB1-82C8-34419E67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84"/>
                    </a14:imgEffect>
                    <a14:imgEffect>
                      <a14:saturation sa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35" b="6179"/>
          <a:stretch/>
        </p:blipFill>
        <p:spPr>
          <a:xfrm>
            <a:off x="0" y="0"/>
            <a:ext cx="12191980" cy="6857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47CD50-7AB2-4890-B985-7C17C32B7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04" y="792479"/>
            <a:ext cx="10786476" cy="579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9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727</Words>
  <Application>Microsoft Office PowerPoint</Application>
  <PresentationFormat>Widescreen</PresentationFormat>
  <Paragraphs>161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 CHE CHING @ ABDUL LATIF</dc:creator>
  <cp:lastModifiedBy>LAI CHE CHING @ ABDUL LATIF</cp:lastModifiedBy>
  <cp:revision>31</cp:revision>
  <dcterms:created xsi:type="dcterms:W3CDTF">2020-10-28T02:24:19Z</dcterms:created>
  <dcterms:modified xsi:type="dcterms:W3CDTF">2024-10-24T01:57:37Z</dcterms:modified>
</cp:coreProperties>
</file>